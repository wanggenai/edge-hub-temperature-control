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7559675" cy="10691813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312234"/>
            <a:ext cx="12191400" cy="68576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960120" y="658080"/>
            <a:ext cx="102412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987480" y="1005840"/>
            <a:ext cx="1019520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Design of Intelligent Edge and Time-Series Data Flow Temperature Control System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70360" y="2121480"/>
            <a:ext cx="9829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Разработка интеллектуальной системы управления температурой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на основе периферийных вычислений и потоковой обработки временных рядов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08760" y="3520440"/>
            <a:ext cx="9235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Student / Студент: Wang Gen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/>
          <p:cNvSpPr/>
          <p:nvPr/>
        </p:nvSpPr>
        <p:spPr>
          <a:xfrm>
            <a:off x="1508760" y="3959280"/>
            <a:ext cx="9235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Руководитель</a:t>
            </a:r>
            <a:r>
              <a:rPr lang="en-US" sz="1600" b="1" u="none" strike="noStrike" dirty="0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: В.С.</a:t>
            </a:r>
            <a:r>
              <a:rPr lang="zh-CN" altLang="en-US" sz="1600" b="1" u="none" strike="noStrike" dirty="0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1600" b="1" u="none" strike="noStrike" dirty="0" err="1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Разумейчик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508760" y="4398120"/>
            <a:ext cx="9235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Department / Кафедра: «ЭВМ и систем»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508760" y="4837320"/>
            <a:ext cx="9235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BrSTU / БрГТУ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508760" y="5276160"/>
            <a:ext cx="9235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2026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0120" y="6172200"/>
            <a:ext cx="102412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Objective And Implemented Scope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777240" y="135324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Times New Roman"/>
                <a:ea typeface="Times New Roman"/>
              </a:rPr>
              <a:t>Objective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777240" y="1719000"/>
            <a:ext cx="489168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500" b="1" u="none" strike="noStrike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Build an end-to-end prototype for intelligent temperature control.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777240" y="3126960"/>
            <a:ext cx="425196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777240" y="3401640"/>
            <a:ext cx="48916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This work covers system design, software implementation, and prototype validation.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172200" y="129852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0F766E"/>
                </a:solidFill>
                <a:effectLst/>
                <a:uFillTx/>
                <a:latin typeface="Times New Roman"/>
                <a:ea typeface="Times New Roman"/>
              </a:rPr>
              <a:t>Implemented Scope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6199560" y="1737360"/>
            <a:ext cx="347040" cy="347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199560" y="1810440"/>
            <a:ext cx="34704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6720840" y="1682640"/>
            <a:ext cx="4434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Edge-side real-time control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6720840" y="2011680"/>
            <a:ext cx="4251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Local closed-loop behavior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6199560" y="2395800"/>
            <a:ext cx="347040" cy="347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6199560" y="2468880"/>
            <a:ext cx="34704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6720840" y="2340720"/>
            <a:ext cx="4434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MQTT-based telemetry flow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6720840" y="2670120"/>
            <a:ext cx="4251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Continuous device reporting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6199560" y="3054240"/>
            <a:ext cx="347040" cy="347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6199560" y="3127320"/>
            <a:ext cx="34704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6720840" y="2999160"/>
            <a:ext cx="4434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Time-series data storage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6720840" y="3328560"/>
            <a:ext cx="4251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Historical query and analysis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6199560" y="3712320"/>
            <a:ext cx="347040" cy="347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6199560" y="3785760"/>
            <a:ext cx="34704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2"/>
          <p:cNvSpPr/>
          <p:nvPr/>
        </p:nvSpPr>
        <p:spPr>
          <a:xfrm>
            <a:off x="6720840" y="3657600"/>
            <a:ext cx="4434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HMI monitoring and operation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6720840" y="3986640"/>
            <a:ext cx="4251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User-facing observation and control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/>
          <p:cNvSpPr/>
          <p:nvPr/>
        </p:nvSpPr>
        <p:spPr>
          <a:xfrm>
            <a:off x="6199560" y="4370760"/>
            <a:ext cx="347040" cy="347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6199560" y="4443840"/>
            <a:ext cx="34704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5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6720840" y="4316040"/>
            <a:ext cx="4434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AI-assisted PID tuning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/>
          <p:cNvSpPr/>
          <p:nvPr/>
        </p:nvSpPr>
        <p:spPr>
          <a:xfrm>
            <a:off x="6720840" y="4645080"/>
            <a:ext cx="4251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Decision support for parameter adjustment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8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02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Requirements And Design Goals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777240" y="132588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777240" y="1325880"/>
            <a:ext cx="72720" cy="429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1005840" y="1490400"/>
            <a:ext cx="48186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9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Functional Requirements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1033200" y="2313360"/>
            <a:ext cx="4727160" cy="318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Temperature acquisition and control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Telemetry upload and storage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Historical query and visualization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Alarm and parameter management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AI-assisted recommendation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6537960" y="132588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9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Design Goals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6537960" y="1874520"/>
            <a:ext cx="2148480" cy="60300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6537960" y="1874520"/>
            <a:ext cx="2148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Safety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8869680" y="1874520"/>
            <a:ext cx="2148480" cy="603000"/>
          </a:xfrm>
          <a:prstGeom prst="roundRect">
            <a:avLst>
              <a:gd name="adj" fmla="val 9091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8869680" y="1874520"/>
            <a:ext cx="2148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Observability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6537960" y="2926080"/>
            <a:ext cx="2148480" cy="603000"/>
          </a:xfrm>
          <a:prstGeom prst="roundRect">
            <a:avLst>
              <a:gd name="adj" fmla="val 9091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6537960" y="2926080"/>
            <a:ext cx="2148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Traceability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8869680" y="2926080"/>
            <a:ext cx="2148480" cy="603000"/>
          </a:xfrm>
          <a:prstGeom prst="roundRect">
            <a:avLst>
              <a:gd name="adj" fmla="val 9091"/>
            </a:avLst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8869680" y="2926080"/>
            <a:ext cx="21484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Maintainability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6537960" y="4316040"/>
            <a:ext cx="448020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The design focuses on controlled operation, visible runtime behavior, recorded actions, and maintainable system structure.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03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End-to-End Closed Loop Architecture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640080" y="1481400"/>
            <a:ext cx="1718640" cy="749520"/>
          </a:xfrm>
          <a:prstGeom prst="roundRect">
            <a:avLst>
              <a:gd name="adj" fmla="val 7317"/>
            </a:avLst>
          </a:prstGeom>
          <a:solidFill>
            <a:srgbClr val="E0F2F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640080" y="1481400"/>
            <a:ext cx="17186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Edge Device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2359080" y="1856160"/>
            <a:ext cx="32904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2724840" y="1481400"/>
            <a:ext cx="171864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2724840" y="1481400"/>
            <a:ext cx="17186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MQTT Telemetry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4443840" y="1856160"/>
            <a:ext cx="32904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4809600" y="1481400"/>
            <a:ext cx="171864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809600" y="1481400"/>
            <a:ext cx="17186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Data Hub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6528600" y="1856160"/>
            <a:ext cx="32940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6894720" y="1481400"/>
            <a:ext cx="171864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6894720" y="1481400"/>
            <a:ext cx="17186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Time-Series Storage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8613360" y="1856160"/>
            <a:ext cx="32940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8979480" y="1481400"/>
            <a:ext cx="171864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8979480" y="1481400"/>
            <a:ext cx="17186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HMI And AI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7"/>
          <p:cNvSpPr/>
          <p:nvPr/>
        </p:nvSpPr>
        <p:spPr>
          <a:xfrm>
            <a:off x="868680" y="3246120"/>
            <a:ext cx="1874160" cy="658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868680" y="3246120"/>
            <a:ext cx="1874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Post-Apply Evaluation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3200400" y="3246120"/>
            <a:ext cx="1874160" cy="658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0"/>
          <p:cNvSpPr/>
          <p:nvPr/>
        </p:nvSpPr>
        <p:spPr>
          <a:xfrm>
            <a:off x="3200400" y="3246120"/>
            <a:ext cx="1874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Edge ACK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1"/>
          <p:cNvSpPr/>
          <p:nvPr/>
        </p:nvSpPr>
        <p:spPr>
          <a:xfrm>
            <a:off x="5532120" y="3246120"/>
            <a:ext cx="1874160" cy="658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5532120" y="3246120"/>
            <a:ext cx="1874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Parameter Update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3"/>
          <p:cNvSpPr/>
          <p:nvPr/>
        </p:nvSpPr>
        <p:spPr>
          <a:xfrm>
            <a:off x="7863840" y="3246120"/>
            <a:ext cx="1874160" cy="65808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270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7863840" y="3246120"/>
            <a:ext cx="1874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Human Confirmation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5"/>
          <p:cNvSpPr/>
          <p:nvPr/>
        </p:nvSpPr>
        <p:spPr>
          <a:xfrm flipH="1">
            <a:off x="8800920" y="2230920"/>
            <a:ext cx="1037880" cy="960120"/>
          </a:xfrm>
          <a:prstGeom prst="line">
            <a:avLst/>
          </a:prstGeom>
          <a:ln w="20320">
            <a:solidFill>
              <a:srgbClr val="B7791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6"/>
          <p:cNvSpPr/>
          <p:nvPr/>
        </p:nvSpPr>
        <p:spPr>
          <a:xfrm flipH="1">
            <a:off x="7443000" y="3575160"/>
            <a:ext cx="420840" cy="360"/>
          </a:xfrm>
          <a:prstGeom prst="line">
            <a:avLst/>
          </a:prstGeom>
          <a:ln w="20320">
            <a:solidFill>
              <a:srgbClr val="B7791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7"/>
          <p:cNvSpPr/>
          <p:nvPr/>
        </p:nvSpPr>
        <p:spPr>
          <a:xfrm flipH="1">
            <a:off x="5111280" y="3575160"/>
            <a:ext cx="420840" cy="360"/>
          </a:xfrm>
          <a:prstGeom prst="line">
            <a:avLst/>
          </a:prstGeom>
          <a:ln w="20320">
            <a:solidFill>
              <a:srgbClr val="B7791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8"/>
          <p:cNvSpPr/>
          <p:nvPr/>
        </p:nvSpPr>
        <p:spPr>
          <a:xfrm flipH="1">
            <a:off x="2779560" y="3575160"/>
            <a:ext cx="420840" cy="360"/>
          </a:xfrm>
          <a:prstGeom prst="line">
            <a:avLst/>
          </a:prstGeom>
          <a:ln w="20320">
            <a:solidFill>
              <a:srgbClr val="B7791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9"/>
          <p:cNvSpPr/>
          <p:nvPr/>
        </p:nvSpPr>
        <p:spPr>
          <a:xfrm flipH="1" flipV="1">
            <a:off x="1499400" y="2286000"/>
            <a:ext cx="306360" cy="960120"/>
          </a:xfrm>
          <a:prstGeom prst="line">
            <a:avLst/>
          </a:prstGeom>
          <a:ln w="20320">
            <a:solidFill>
              <a:srgbClr val="0F76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0"/>
          <p:cNvSpPr/>
          <p:nvPr/>
        </p:nvSpPr>
        <p:spPr>
          <a:xfrm>
            <a:off x="868680" y="4590360"/>
            <a:ext cx="10286640" cy="1078560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1"/>
          <p:cNvSpPr/>
          <p:nvPr/>
        </p:nvSpPr>
        <p:spPr>
          <a:xfrm>
            <a:off x="868680" y="4590360"/>
            <a:ext cx="72720" cy="1078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2"/>
          <p:cNvSpPr/>
          <p:nvPr/>
        </p:nvSpPr>
        <p:spPr>
          <a:xfrm>
            <a:off x="1097280" y="475488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Key Principles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3"/>
          <p:cNvSpPr/>
          <p:nvPr/>
        </p:nvSpPr>
        <p:spPr>
          <a:xfrm>
            <a:off x="3886200" y="470016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Real-time control remains on the edge.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4"/>
          <p:cNvSpPr/>
          <p:nvPr/>
        </p:nvSpPr>
        <p:spPr>
          <a:xfrm>
            <a:off x="3886200" y="5065920"/>
            <a:ext cx="6674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AI supports PID tuning decisions, not direct actuation.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5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04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Edge Control And Hardware Design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868680" y="1874520"/>
            <a:ext cx="13255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868680" y="1874520"/>
            <a:ext cx="13255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Sensor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Acquisition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2194560" y="2349720"/>
            <a:ext cx="53928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2788920" y="1874520"/>
            <a:ext cx="1325520" cy="9597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2788920" y="1874520"/>
            <a:ext cx="13255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Control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Tick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4114800" y="2349720"/>
            <a:ext cx="53928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4709160" y="1874520"/>
            <a:ext cx="13255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4709160" y="1874520"/>
            <a:ext cx="13255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PWM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Output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1965960" y="3429000"/>
            <a:ext cx="1645560" cy="73116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1965960" y="342900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Local Safety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Priority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3"/>
          <p:cNvSpPr/>
          <p:nvPr/>
        </p:nvSpPr>
        <p:spPr>
          <a:xfrm>
            <a:off x="4023360" y="3429000"/>
            <a:ext cx="1645560" cy="73116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4023360" y="342900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Telemetry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+ ACK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5"/>
          <p:cNvSpPr/>
          <p:nvPr/>
        </p:nvSpPr>
        <p:spPr>
          <a:xfrm flipH="1">
            <a:off x="2788920" y="2834640"/>
            <a:ext cx="658080" cy="576000"/>
          </a:xfrm>
          <a:prstGeom prst="line">
            <a:avLst/>
          </a:prstGeom>
          <a:ln w="20320">
            <a:solidFill>
              <a:srgbClr val="B7791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 flipH="1">
            <a:off x="4846320" y="2834640"/>
            <a:ext cx="520920" cy="576000"/>
          </a:xfrm>
          <a:prstGeom prst="line">
            <a:avLst/>
          </a:prstGeom>
          <a:ln w="20320">
            <a:solidFill>
              <a:srgbClr val="0F76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6629400" y="1325880"/>
            <a:ext cx="4571640" cy="452592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6629400" y="1325880"/>
            <a:ext cx="72720" cy="452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6858000" y="1490400"/>
            <a:ext cx="41328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Edge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6885360" y="2313360"/>
            <a:ext cx="4041360" cy="34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Sensor acquisition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Periodic control tick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PID-compatible parameters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PWM actuator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Output limiting and anti-windup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Local safety handling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Parameter 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05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Telemetry And Control Metrics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777240" y="1325880"/>
            <a:ext cx="4343040" cy="44802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777240" y="1325880"/>
            <a:ext cx="72720" cy="448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1005840" y="1490400"/>
            <a:ext cx="3904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Telemetry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1033200" y="2313360"/>
            <a:ext cx="3812760" cy="33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Temperature / setpoint /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Control output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PID parameters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Device status and fault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Timestamp and device 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7"/>
          <p:cNvSpPr/>
          <p:nvPr/>
        </p:nvSpPr>
        <p:spPr>
          <a:xfrm>
            <a:off x="5321880" y="2697480"/>
            <a:ext cx="1737000" cy="868320"/>
          </a:xfrm>
          <a:prstGeom prst="roundRect">
            <a:avLst>
              <a:gd name="adj" fmla="val 6316"/>
            </a:avLst>
          </a:prstGeom>
          <a:solidFill>
            <a:srgbClr val="E0F2F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5321880" y="2697480"/>
            <a:ext cx="17370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Control-quality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features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9"/>
          <p:cNvSpPr/>
          <p:nvPr/>
        </p:nvSpPr>
        <p:spPr>
          <a:xfrm>
            <a:off x="5120640" y="3126960"/>
            <a:ext cx="274320" cy="360"/>
          </a:xfrm>
          <a:prstGeom prst="line">
            <a:avLst/>
          </a:prstGeom>
          <a:ln w="20320">
            <a:solidFill>
              <a:srgbClr val="0F76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0"/>
          <p:cNvSpPr/>
          <p:nvPr/>
        </p:nvSpPr>
        <p:spPr>
          <a:xfrm>
            <a:off x="6967440" y="3126960"/>
            <a:ext cx="274320" cy="360"/>
          </a:xfrm>
          <a:prstGeom prst="line">
            <a:avLst/>
          </a:prstGeom>
          <a:ln w="20320">
            <a:solidFill>
              <a:srgbClr val="0F76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7315200" y="1325880"/>
            <a:ext cx="3885840" cy="4480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2"/>
          <p:cNvSpPr/>
          <p:nvPr/>
        </p:nvSpPr>
        <p:spPr>
          <a:xfrm>
            <a:off x="7315200" y="1325880"/>
            <a:ext cx="72720" cy="448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7543800" y="1490400"/>
            <a:ext cx="34470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Control Metrics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7571160" y="2313360"/>
            <a:ext cx="3355560" cy="336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Mean absolute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Overshoot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Settling time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In-band ratio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Temperature swing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Saturation ratio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960120" y="5870520"/>
            <a:ext cx="10149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Telemetry is used for display, control-quality evaluation, and AI feature extraction.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06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Data Hub Reliability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713160" y="1508760"/>
            <a:ext cx="133452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713160" y="1508760"/>
            <a:ext cx="1334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MQTT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2048040" y="1883520"/>
            <a:ext cx="1555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2249280" y="1508760"/>
            <a:ext cx="133452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2249280" y="1508760"/>
            <a:ext cx="1334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Validation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3584160" y="1883520"/>
            <a:ext cx="1555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3785760" y="1508760"/>
            <a:ext cx="133452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0"/>
          <p:cNvSpPr/>
          <p:nvPr/>
        </p:nvSpPr>
        <p:spPr>
          <a:xfrm>
            <a:off x="3785760" y="1508760"/>
            <a:ext cx="1334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Filtering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5120640" y="1883520"/>
            <a:ext cx="15516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5321880" y="1508760"/>
            <a:ext cx="1334520" cy="749520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5321880" y="1508760"/>
            <a:ext cx="1334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Queue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6656760" y="1883520"/>
            <a:ext cx="1555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5"/>
          <p:cNvSpPr/>
          <p:nvPr/>
        </p:nvSpPr>
        <p:spPr>
          <a:xfrm>
            <a:off x="6858000" y="1508760"/>
            <a:ext cx="133452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6858000" y="1508760"/>
            <a:ext cx="1334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Aggregation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8192880" y="1883520"/>
            <a:ext cx="1555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8394120" y="1508760"/>
            <a:ext cx="133452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8394120" y="1508760"/>
            <a:ext cx="1334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Storage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0"/>
          <p:cNvSpPr/>
          <p:nvPr/>
        </p:nvSpPr>
        <p:spPr>
          <a:xfrm>
            <a:off x="9729000" y="1883520"/>
            <a:ext cx="1555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1"/>
          <p:cNvSpPr/>
          <p:nvPr/>
        </p:nvSpPr>
        <p:spPr>
          <a:xfrm>
            <a:off x="9930240" y="1508760"/>
            <a:ext cx="133452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2"/>
          <p:cNvSpPr/>
          <p:nvPr/>
        </p:nvSpPr>
        <p:spPr>
          <a:xfrm>
            <a:off x="9930240" y="1508760"/>
            <a:ext cx="13345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Metrics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3"/>
          <p:cNvSpPr/>
          <p:nvPr/>
        </p:nvSpPr>
        <p:spPr>
          <a:xfrm>
            <a:off x="822960" y="2788920"/>
            <a:ext cx="5074560" cy="2559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4"/>
          <p:cNvSpPr/>
          <p:nvPr/>
        </p:nvSpPr>
        <p:spPr>
          <a:xfrm>
            <a:off x="822960" y="2788920"/>
            <a:ext cx="72720" cy="2559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5"/>
          <p:cNvSpPr/>
          <p:nvPr/>
        </p:nvSpPr>
        <p:spPr>
          <a:xfrm>
            <a:off x="1051560" y="2953440"/>
            <a:ext cx="46357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Processing Responsibilities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6"/>
          <p:cNvSpPr/>
          <p:nvPr/>
        </p:nvSpPr>
        <p:spPr>
          <a:xfrm>
            <a:off x="1078920" y="3776400"/>
            <a:ext cx="454428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MQTT telemetry ingestion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JSON parsing and validation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Abnormal data filtering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Bounded asynchronous processing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7"/>
          <p:cNvSpPr/>
          <p:nvPr/>
        </p:nvSpPr>
        <p:spPr>
          <a:xfrm>
            <a:off x="6263640" y="2788920"/>
            <a:ext cx="4891680" cy="2559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8"/>
          <p:cNvSpPr/>
          <p:nvPr/>
        </p:nvSpPr>
        <p:spPr>
          <a:xfrm>
            <a:off x="6263640" y="2788920"/>
            <a:ext cx="72720" cy="2559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9"/>
          <p:cNvSpPr/>
          <p:nvPr/>
        </p:nvSpPr>
        <p:spPr>
          <a:xfrm>
            <a:off x="6492240" y="2953440"/>
            <a:ext cx="44528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Storage And Observation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0"/>
          <p:cNvSpPr/>
          <p:nvPr/>
        </p:nvSpPr>
        <p:spPr>
          <a:xfrm>
            <a:off x="6519600" y="3776400"/>
            <a:ext cx="436140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Short-term aggregation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TDengine time-series storage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PostgreSQL management data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Runtime throughput, latency, and failure metrics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1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07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Hybrid AI-Assisted PID Tuning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640080" y="1243440"/>
            <a:ext cx="3492720" cy="25783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"/>
          <p:cNvSpPr/>
          <p:nvPr/>
        </p:nvSpPr>
        <p:spPr>
          <a:xfrm>
            <a:off x="640080" y="1243440"/>
            <a:ext cx="72720" cy="2578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868680" y="1408320"/>
            <a:ext cx="3053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AI Role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896040" y="2231280"/>
            <a:ext cx="29624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Decision support for PID tuning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Not direct temperature control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Human-confirmed parameter update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4462200" y="1243440"/>
            <a:ext cx="3492720" cy="25783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4462200" y="1243440"/>
            <a:ext cx="72720" cy="2578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4690800" y="1408320"/>
            <a:ext cx="3053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Rule-Based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4718160" y="2231280"/>
            <a:ext cx="29624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Telemetry feature extraction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Control problem diagnosis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Conservative PID candidate generation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8284320" y="1243440"/>
            <a:ext cx="3492720" cy="25783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8284320" y="1243440"/>
            <a:ext cx="72720" cy="25783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8512920" y="1408320"/>
            <a:ext cx="3053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ML Model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8540640" y="2231280"/>
            <a:ext cx="29624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Candidate PID ranking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Improvement probability estimation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Preview risk estimation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6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Rule fallback if artifacts are unavailable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5"/>
          <p:cNvSpPr/>
          <p:nvPr/>
        </p:nvSpPr>
        <p:spPr>
          <a:xfrm>
            <a:off x="658440" y="4169520"/>
            <a:ext cx="2139480" cy="63972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6D5B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658440" y="416952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1. Telemetry Window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3273480" y="4169520"/>
            <a:ext cx="2139480" cy="63972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3273480" y="416952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2. Feature Extraction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9"/>
          <p:cNvSpPr/>
          <p:nvPr/>
        </p:nvSpPr>
        <p:spPr>
          <a:xfrm>
            <a:off x="5888880" y="4169520"/>
            <a:ext cx="2139480" cy="63972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6D5B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0"/>
          <p:cNvSpPr/>
          <p:nvPr/>
        </p:nvSpPr>
        <p:spPr>
          <a:xfrm>
            <a:off x="5888880" y="416952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3. Problem Diagnosis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1"/>
          <p:cNvSpPr/>
          <p:nvPr/>
        </p:nvSpPr>
        <p:spPr>
          <a:xfrm>
            <a:off x="8503920" y="4169520"/>
            <a:ext cx="2139480" cy="63972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8503920" y="416952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4. PID Candidates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3"/>
          <p:cNvSpPr/>
          <p:nvPr/>
        </p:nvSpPr>
        <p:spPr>
          <a:xfrm>
            <a:off x="8503920" y="5029200"/>
            <a:ext cx="2139480" cy="63972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6D5B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4"/>
          <p:cNvSpPr/>
          <p:nvPr/>
        </p:nvSpPr>
        <p:spPr>
          <a:xfrm>
            <a:off x="8503920" y="502920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5. ML Ranking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5"/>
          <p:cNvSpPr/>
          <p:nvPr/>
        </p:nvSpPr>
        <p:spPr>
          <a:xfrm>
            <a:off x="5888880" y="5029200"/>
            <a:ext cx="2139480" cy="63972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5888880" y="502920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6. Preview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7"/>
          <p:cNvSpPr/>
          <p:nvPr/>
        </p:nvSpPr>
        <p:spPr>
          <a:xfrm>
            <a:off x="3273480" y="5029200"/>
            <a:ext cx="2139480" cy="63972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6D5B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8"/>
          <p:cNvSpPr/>
          <p:nvPr/>
        </p:nvSpPr>
        <p:spPr>
          <a:xfrm>
            <a:off x="3273480" y="502920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7. Human Confirm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9"/>
          <p:cNvSpPr/>
          <p:nvPr/>
        </p:nvSpPr>
        <p:spPr>
          <a:xfrm>
            <a:off x="658440" y="5029200"/>
            <a:ext cx="2139480" cy="63972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0"/>
          <p:cNvSpPr/>
          <p:nvPr/>
        </p:nvSpPr>
        <p:spPr>
          <a:xfrm>
            <a:off x="658440" y="5029200"/>
            <a:ext cx="213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8. Evaluate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1"/>
          <p:cNvSpPr/>
          <p:nvPr/>
        </p:nvSpPr>
        <p:spPr>
          <a:xfrm>
            <a:off x="2797920" y="4489560"/>
            <a:ext cx="429840" cy="360"/>
          </a:xfrm>
          <a:prstGeom prst="line">
            <a:avLst/>
          </a:prstGeom>
          <a:ln w="15240">
            <a:solidFill>
              <a:srgbClr val="5B647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2"/>
          <p:cNvSpPr/>
          <p:nvPr/>
        </p:nvSpPr>
        <p:spPr>
          <a:xfrm>
            <a:off x="5412960" y="4489560"/>
            <a:ext cx="429840" cy="360"/>
          </a:xfrm>
          <a:prstGeom prst="line">
            <a:avLst/>
          </a:prstGeom>
          <a:ln w="15240">
            <a:solidFill>
              <a:srgbClr val="5B647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3"/>
          <p:cNvSpPr/>
          <p:nvPr/>
        </p:nvSpPr>
        <p:spPr>
          <a:xfrm>
            <a:off x="8028360" y="4489560"/>
            <a:ext cx="429840" cy="360"/>
          </a:xfrm>
          <a:prstGeom prst="line">
            <a:avLst/>
          </a:prstGeom>
          <a:ln w="15240">
            <a:solidFill>
              <a:srgbClr val="5B647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4"/>
          <p:cNvSpPr/>
          <p:nvPr/>
        </p:nvSpPr>
        <p:spPr>
          <a:xfrm>
            <a:off x="9573480" y="4809600"/>
            <a:ext cx="360" cy="173880"/>
          </a:xfrm>
          <a:prstGeom prst="line">
            <a:avLst/>
          </a:prstGeom>
          <a:ln w="15240">
            <a:solidFill>
              <a:srgbClr val="5B647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5"/>
          <p:cNvSpPr/>
          <p:nvPr/>
        </p:nvSpPr>
        <p:spPr>
          <a:xfrm flipH="1">
            <a:off x="8074080" y="5349240"/>
            <a:ext cx="429840" cy="360"/>
          </a:xfrm>
          <a:prstGeom prst="line">
            <a:avLst/>
          </a:prstGeom>
          <a:ln w="15240">
            <a:solidFill>
              <a:srgbClr val="5B647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6"/>
          <p:cNvSpPr/>
          <p:nvPr/>
        </p:nvSpPr>
        <p:spPr>
          <a:xfrm flipH="1">
            <a:off x="5458680" y="5349240"/>
            <a:ext cx="429840" cy="360"/>
          </a:xfrm>
          <a:prstGeom prst="line">
            <a:avLst/>
          </a:prstGeom>
          <a:ln w="15240">
            <a:solidFill>
              <a:srgbClr val="5B647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7"/>
          <p:cNvSpPr/>
          <p:nvPr/>
        </p:nvSpPr>
        <p:spPr>
          <a:xfrm flipH="1">
            <a:off x="2843640" y="5349240"/>
            <a:ext cx="429840" cy="360"/>
          </a:xfrm>
          <a:prstGeom prst="line">
            <a:avLst/>
          </a:prstGeom>
          <a:ln w="15240">
            <a:solidFill>
              <a:srgbClr val="5B647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8"/>
          <p:cNvSpPr/>
          <p:nvPr/>
        </p:nvSpPr>
        <p:spPr>
          <a:xfrm>
            <a:off x="822960" y="5989320"/>
            <a:ext cx="10515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20" b="0" u="none" strike="noStrike">
                <a:solidFill>
                  <a:srgbClr val="5B6472"/>
                </a:solidFill>
                <a:effectLst/>
                <a:uFillTx/>
                <a:latin typeface="Times New Roman"/>
                <a:ea typeface="Times New Roman"/>
              </a:rPr>
              <a:t>Models: Logistic Regression / Random Forest    Artifacts: joblib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9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08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Deployment And Validation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777240" y="1325880"/>
            <a:ext cx="4983120" cy="434304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4"/>
          <p:cNvSpPr/>
          <p:nvPr/>
        </p:nvSpPr>
        <p:spPr>
          <a:xfrm>
            <a:off x="777240" y="1325880"/>
            <a:ext cx="72720" cy="434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1005840" y="1490400"/>
            <a:ext cx="454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1033200" y="2313360"/>
            <a:ext cx="4452840" cy="32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Edge firmware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MQTT broker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Java Data Hub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TDengine / PostgreSQL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HMI and AI services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7"/>
          <p:cNvSpPr/>
          <p:nvPr/>
        </p:nvSpPr>
        <p:spPr>
          <a:xfrm>
            <a:off x="6263640" y="1325880"/>
            <a:ext cx="4983120" cy="434304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6263640" y="1325880"/>
            <a:ext cx="72720" cy="434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6492240" y="1490400"/>
            <a:ext cx="4544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6519600" y="2313360"/>
            <a:ext cx="4452840" cy="32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End-to-end telemetry flow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Parameter update with ACK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Data Hub pressure testing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Baseline throughput and latency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2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Metrics and database maintenance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09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594360" y="329040"/>
            <a:ext cx="9875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7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Results, Limitations And Future Work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640080" y="1325880"/>
            <a:ext cx="3456000" cy="41601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640080" y="1325880"/>
            <a:ext cx="72720" cy="416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868680" y="1490400"/>
            <a:ext cx="30171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Main Results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896040" y="2313360"/>
            <a:ext cx="2925720" cy="30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End-to-end prototype implemented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Edge control and telemetry upload verified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Data Hub ingestion, storage, and metrics verified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HMI monitoring and parameter management verified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AI-assisted PID tuning workflow verified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4407480" y="1325880"/>
            <a:ext cx="3456000" cy="41601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4407480" y="1325880"/>
            <a:ext cx="72720" cy="41601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4636080" y="1490400"/>
            <a:ext cx="30171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Limitations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4663440" y="2313360"/>
            <a:ext cx="2925720" cy="30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Prototype-level validation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More physical thermal-load experiments are needed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Long-term quantitative control evaluation should be extended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8174880" y="1325880"/>
            <a:ext cx="3456000" cy="41601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2"/>
          <p:cNvSpPr/>
          <p:nvPr/>
        </p:nvSpPr>
        <p:spPr>
          <a:xfrm>
            <a:off x="8174880" y="1325880"/>
            <a:ext cx="72720" cy="416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8403480" y="1490400"/>
            <a:ext cx="30171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Future 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4"/>
          <p:cNvSpPr/>
          <p:nvPr/>
        </p:nvSpPr>
        <p:spPr>
          <a:xfrm>
            <a:off x="8430840" y="2313360"/>
            <a:ext cx="2925720" cy="30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Broader device and scenario testing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Improved adaptive tuning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80" b="0" u="none" strike="noStrike">
                <a:solidFill>
                  <a:srgbClr val="1F2933"/>
                </a:solidFill>
                <a:effectLst/>
                <a:uFillTx/>
                <a:latin typeface="Times New Roman"/>
                <a:ea typeface="Times New Roman"/>
              </a:rPr>
              <a:t>• Stronger deployment automation and monitoring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1005840" y="5797440"/>
            <a:ext cx="10058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650" b="1" u="none" strike="noStrike">
                <a:solidFill>
                  <a:srgbClr val="24364B"/>
                </a:solidFill>
                <a:effectLst/>
                <a:uFillTx/>
                <a:latin typeface="Times New Roman"/>
                <a:ea typeface="Times New Roman"/>
              </a:rPr>
              <a:t>The work combines design, implementation, and prototype validation.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10561320" y="644652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Times New Roman"/>
                <a:ea typeface="Times New Roman"/>
              </a:rPr>
              <a:t>10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640</Words>
  <Application>Microsoft Macintosh PowerPoint</Application>
  <PresentationFormat>Widescreen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PowerPoint generated from content.json</dc:subject>
  <dc:creator>Codex pptx-deck-builder</dc:creator>
  <dc:description/>
  <cp:lastModifiedBy>c9859</cp:lastModifiedBy>
  <cp:revision>3</cp:revision>
  <dcterms:created xsi:type="dcterms:W3CDTF">2026-06-23T12:05:09Z</dcterms:created>
  <dcterms:modified xsi:type="dcterms:W3CDTF">2026-06-23T12:12:55Z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